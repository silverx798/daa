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Inter Semi-Bold" charset="1" panose="02000503000000020004"/>
      <p:regular r:id="rId12"/>
    </p:embeddedFont>
    <p:embeddedFont>
      <p:font typeface="Inter" charset="1" panose="02000503000000020004"/>
      <p:regular r:id="rId13"/>
    </p:embeddedFont>
    <p:embeddedFont>
      <p:font typeface="Inter Bold" charset="1" panose="020005030000000200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1429" y="1792922"/>
            <a:ext cx="7866488" cy="250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3"/>
              </a:lnSpc>
            </a:pPr>
            <a:r>
              <a:rPr lang="en-US" sz="9357" spc="-374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Computational Intractability: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189" y="4409061"/>
            <a:ext cx="9190490" cy="209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6480" spc="-259" b="true">
                <a:solidFill>
                  <a:srgbClr val="5090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 </a:t>
            </a:r>
            <a:r>
              <a:rPr lang="en-US" sz="6480" spc="-259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vs. </a:t>
            </a:r>
            <a:r>
              <a:rPr lang="en-US" sz="6480" spc="-259" b="true">
                <a:solidFill>
                  <a:srgbClr val="5090F4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 </a:t>
            </a:r>
            <a:r>
              <a:rPr lang="en-US" sz="6480" spc="-259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&amp; The Travelling Salesman Problem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6854356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6478" y="7442788"/>
            <a:ext cx="7040462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032" spc="-121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Educational Overview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1180" y="1149918"/>
            <a:ext cx="8249209" cy="228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7"/>
              </a:lnSpc>
            </a:pPr>
            <a:r>
              <a:rPr lang="en-US" sz="7907" spc="-393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What are</a:t>
            </a:r>
          </a:p>
          <a:p>
            <a:pPr algn="l">
              <a:lnSpc>
                <a:spcPts val="9097"/>
              </a:lnSpc>
            </a:pPr>
            <a:r>
              <a:rPr lang="en-US" sz="7907" spc="-393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sz="7907" spc="-393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and </a:t>
            </a:r>
            <a:r>
              <a:rPr lang="en-US" sz="7907" spc="-393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7907" spc="-393" b="true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Classes?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918" y="4266126"/>
            <a:ext cx="6433177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147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sz="2970" spc="-14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: problems solvable in polynomial time by a deterministic Turing machine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3274" y="5666935"/>
            <a:ext cx="6397560" cy="148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154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3102" spc="-154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: problems whose solutions can be verified in polynomial time by a deterministic Turing machine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5049" y="7684937"/>
            <a:ext cx="5220103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147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sz="2970" spc="-14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 is a subset of </a:t>
            </a:r>
            <a:r>
              <a:rPr lang="en-US" sz="2970" spc="-147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2970" spc="-14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, but whether</a:t>
            </a:r>
          </a:p>
          <a:p>
            <a:pPr algn="l">
              <a:lnSpc>
                <a:spcPts val="3861"/>
              </a:lnSpc>
            </a:pPr>
            <a:r>
              <a:rPr lang="en-US" sz="2970" spc="-147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sz="2970" spc="-14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 equals </a:t>
            </a:r>
            <a:r>
              <a:rPr lang="en-US" sz="2970" spc="-147" b="true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2970" spc="-147">
                <a:solidFill>
                  <a:srgbClr val="FAFAFA"/>
                </a:solidFill>
                <a:latin typeface="Inter"/>
                <a:ea typeface="Inter"/>
                <a:cs typeface="Inter"/>
                <a:sym typeface="Inter"/>
              </a:rPr>
              <a:t> is unknown.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789330" y="1279043"/>
            <a:ext cx="7853340" cy="7936623"/>
          </a:xfrm>
          <a:custGeom>
            <a:avLst/>
            <a:gdLst/>
            <a:ahLst/>
            <a:cxnLst/>
            <a:rect r="r" b="b" t="t" l="l"/>
            <a:pathLst>
              <a:path h="7936623" w="7853340">
                <a:moveTo>
                  <a:pt x="0" y="0"/>
                </a:moveTo>
                <a:lnTo>
                  <a:pt x="7853340" y="0"/>
                </a:lnTo>
                <a:lnTo>
                  <a:pt x="7853340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320622" y="4285339"/>
            <a:ext cx="4582938" cy="4503979"/>
          </a:xfrm>
          <a:custGeom>
            <a:avLst/>
            <a:gdLst/>
            <a:ahLst/>
            <a:cxnLst/>
            <a:rect r="r" b="b" t="t" l="l"/>
            <a:pathLst>
              <a:path h="4503979" w="4582938">
                <a:moveTo>
                  <a:pt x="0" y="0"/>
                </a:moveTo>
                <a:lnTo>
                  <a:pt x="4582938" y="0"/>
                </a:lnTo>
                <a:lnTo>
                  <a:pt x="4582938" y="4503979"/>
                </a:lnTo>
                <a:lnTo>
                  <a:pt x="0" y="45039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096838" y="2245467"/>
            <a:ext cx="940965" cy="80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0"/>
              </a:lnSpc>
            </a:pPr>
            <a:r>
              <a:rPr lang="en-US" b="true" sz="5554" spc="-276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89023" y="3233034"/>
            <a:ext cx="2812852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115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solutions verifiable</a:t>
            </a:r>
          </a:p>
          <a:p>
            <a:pPr algn="ctr">
              <a:lnSpc>
                <a:spcPts val="2786"/>
              </a:lnSpc>
            </a:pPr>
            <a:r>
              <a:rPr lang="en-US" b="true" sz="2321" spc="-115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in polynomial time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4597" y="5528730"/>
            <a:ext cx="430460" cy="80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0"/>
              </a:lnSpc>
            </a:pPr>
            <a:r>
              <a:rPr lang="en-US" b="true" sz="5554" spc="-276">
                <a:solidFill>
                  <a:srgbClr val="4686F1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89023" y="6546419"/>
            <a:ext cx="2920008" cy="678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115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solvable in</a:t>
            </a:r>
          </a:p>
          <a:p>
            <a:pPr algn="ctr">
              <a:lnSpc>
                <a:spcPts val="2786"/>
              </a:lnSpc>
            </a:pPr>
            <a:r>
              <a:rPr lang="en-US" b="true" sz="2321" spc="-115">
                <a:solidFill>
                  <a:srgbClr val="FAFAF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polynomial time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42574" y="3215549"/>
            <a:ext cx="2091078" cy="592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35"/>
              </a:lnSpc>
            </a:pPr>
            <a:r>
              <a:rPr lang="en-US" b="true" sz="44535" spc="-891">
                <a:solidFill>
                  <a:srgbClr val="3B82FC"/>
                </a:solidFill>
                <a:latin typeface="Inter Bold"/>
                <a:ea typeface="Inter Bold"/>
                <a:cs typeface="Inter Bold"/>
                <a:sym typeface="Inter Bold"/>
              </a:rPr>
              <a:t>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10913" y="4920509"/>
            <a:ext cx="2246498" cy="2091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54"/>
              </a:lnSpc>
            </a:pPr>
            <a:r>
              <a:rPr lang="en-US" b="true" sz="15854" spc="-789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?=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537771" y="4145783"/>
            <a:ext cx="4120858" cy="35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70"/>
              </a:lnSpc>
            </a:pPr>
            <a:r>
              <a:rPr lang="en-US" b="true" sz="27070" spc="-541">
                <a:solidFill>
                  <a:srgbClr val="3B82FC"/>
                </a:solidFill>
                <a:latin typeface="Inter Bold"/>
                <a:ea typeface="Inter Bold"/>
                <a:cs typeface="Inter Bold"/>
                <a:sym typeface="Inter Bold"/>
              </a:rPr>
              <a:t>np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5551" y="1214260"/>
            <a:ext cx="5490945" cy="2210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1"/>
              </a:lnSpc>
            </a:pPr>
            <a:r>
              <a:rPr lang="en-US" sz="7822" spc="-389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The </a:t>
            </a:r>
            <a:r>
              <a:rPr lang="en-US" sz="7822" spc="-389" b="true">
                <a:solidFill>
                  <a:srgbClr val="3B82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  <a:r>
              <a:rPr lang="en-US" sz="7822" spc="-389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vs. </a:t>
            </a:r>
            <a:r>
              <a:rPr lang="en-US" sz="7822" spc="-389" b="true">
                <a:solidFill>
                  <a:srgbClr val="3B82F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7822" spc="-389" b="true">
                <a:solidFill>
                  <a:srgbClr val="F8F8F8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0809" y="4132282"/>
            <a:ext cx="2644057" cy="48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Is P equal to NP?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1204" y="4990750"/>
            <a:ext cx="6604615" cy="14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Whether every problem whose solution can be quickly verified can also be quickly solved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463" y="7039024"/>
            <a:ext cx="6378697" cy="98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144">
                <a:solidFill>
                  <a:srgbClr val="F8F8F8"/>
                </a:solidFill>
                <a:latin typeface="Inter"/>
                <a:ea typeface="Inter"/>
                <a:cs typeface="Inter"/>
                <a:sym typeface="Inter"/>
              </a:rPr>
              <a:t>One of the biggest unresolved questions in computer science and mathematics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2776725"/>
            <a:ext cx="10675292" cy="6438940"/>
          </a:xfrm>
          <a:custGeom>
            <a:avLst/>
            <a:gdLst/>
            <a:ahLst/>
            <a:cxnLst/>
            <a:rect r="r" b="b" t="t" l="l"/>
            <a:pathLst>
              <a:path h="6438940" w="10675292">
                <a:moveTo>
                  <a:pt x="0" y="0"/>
                </a:moveTo>
                <a:lnTo>
                  <a:pt x="10675292" y="0"/>
                </a:lnTo>
                <a:lnTo>
                  <a:pt x="1067529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06488" y="3214004"/>
            <a:ext cx="9373694" cy="5148966"/>
          </a:xfrm>
          <a:custGeom>
            <a:avLst/>
            <a:gdLst/>
            <a:ahLst/>
            <a:cxnLst/>
            <a:rect r="r" b="b" t="t" l="l"/>
            <a:pathLst>
              <a:path h="5148966" w="9373694">
                <a:moveTo>
                  <a:pt x="0" y="0"/>
                </a:moveTo>
                <a:lnTo>
                  <a:pt x="9373694" y="0"/>
                </a:lnTo>
                <a:lnTo>
                  <a:pt x="937369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04580" y="1183026"/>
            <a:ext cx="9909158" cy="195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985" spc="-347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The Travelling</a:t>
            </a:r>
          </a:p>
          <a:p>
            <a:pPr algn="l">
              <a:lnSpc>
                <a:spcPts val="7680"/>
              </a:lnSpc>
            </a:pPr>
            <a:r>
              <a:rPr lang="en-US" sz="6985" spc="-347" b="true">
                <a:solidFill>
                  <a:srgbClr val="F6F6F6"/>
                </a:solidFill>
                <a:latin typeface="Inter Bold"/>
                <a:ea typeface="Inter Bold"/>
                <a:cs typeface="Inter Bold"/>
                <a:sym typeface="Inter Bold"/>
              </a:rPr>
              <a:t>Salesman Problem (TSP)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36887" y="3829512"/>
            <a:ext cx="6678456" cy="1488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102" spc="-154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Find the </a:t>
            </a:r>
            <a:r>
              <a:rPr lang="en-US" sz="3102" spc="-154" b="true">
                <a:solidFill>
                  <a:srgbClr val="4A80E2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shortest</a:t>
            </a:r>
            <a:r>
              <a:rPr lang="en-US" sz="3102" spc="-154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 possible route visiting each city exactly once and returning to the start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8944" y="5913593"/>
            <a:ext cx="6472765" cy="103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234" spc="-161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TSP is </a:t>
            </a:r>
            <a:r>
              <a:rPr lang="en-US" sz="3234" spc="-161" b="true">
                <a:solidFill>
                  <a:srgbClr val="4A80E2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NP-hard</a:t>
            </a:r>
          </a:p>
          <a:p>
            <a:pPr algn="l">
              <a:lnSpc>
                <a:spcPts val="4204"/>
              </a:lnSpc>
            </a:pPr>
            <a:r>
              <a:rPr lang="en-US" sz="3234" spc="-161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No known polynomial-time algorithm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948" y="7555225"/>
            <a:ext cx="6572370" cy="103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4"/>
              </a:lnSpc>
            </a:pPr>
            <a:r>
              <a:rPr lang="en-US" sz="3234" spc="-161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Real-world </a:t>
            </a:r>
            <a:r>
              <a:rPr lang="en-US" sz="3234" spc="-161" b="true">
                <a:solidFill>
                  <a:srgbClr val="4A80E2">
                    <a:alpha val="89804"/>
                  </a:srgbClr>
                </a:solidFill>
                <a:latin typeface="Inter Bold"/>
                <a:ea typeface="Inter Bold"/>
                <a:cs typeface="Inter Bold"/>
                <a:sym typeface="Inter Bold"/>
              </a:rPr>
              <a:t>relevance</a:t>
            </a:r>
          </a:p>
          <a:p>
            <a:pPr algn="l">
              <a:lnSpc>
                <a:spcPts val="4204"/>
              </a:lnSpc>
            </a:pPr>
            <a:r>
              <a:rPr lang="en-US" sz="3234" spc="-161">
                <a:solidFill>
                  <a:srgbClr val="F6F6F6">
                    <a:alpha val="89804"/>
                  </a:srgbClr>
                </a:solidFill>
                <a:latin typeface="Inter"/>
                <a:ea typeface="Inter"/>
                <a:cs typeface="Inter"/>
                <a:sym typeface="Inter"/>
              </a:rPr>
              <a:t>Logistics, route planning,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634055"/>
            <a:ext cx="8498670" cy="8800250"/>
          </a:xfrm>
          <a:custGeom>
            <a:avLst/>
            <a:gdLst/>
            <a:ahLst/>
            <a:cxnLst/>
            <a:rect r="r" b="b" t="t" l="l"/>
            <a:pathLst>
              <a:path h="8800250" w="8498670">
                <a:moveTo>
                  <a:pt x="0" y="0"/>
                </a:moveTo>
                <a:lnTo>
                  <a:pt x="8498670" y="0"/>
                </a:lnTo>
                <a:lnTo>
                  <a:pt x="8498670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01866" y="4493047"/>
            <a:ext cx="4582938" cy="4514911"/>
          </a:xfrm>
          <a:custGeom>
            <a:avLst/>
            <a:gdLst/>
            <a:ahLst/>
            <a:cxnLst/>
            <a:rect r="r" b="b" t="t" l="l"/>
            <a:pathLst>
              <a:path h="4514911" w="4582938">
                <a:moveTo>
                  <a:pt x="0" y="0"/>
                </a:moveTo>
                <a:lnTo>
                  <a:pt x="4582938" y="0"/>
                </a:lnTo>
                <a:lnTo>
                  <a:pt x="4582938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6842" y="2995365"/>
            <a:ext cx="6103292" cy="6438940"/>
          </a:xfrm>
          <a:custGeom>
            <a:avLst/>
            <a:gdLst/>
            <a:ahLst/>
            <a:cxnLst/>
            <a:rect r="r" b="b" t="t" l="l"/>
            <a:pathLst>
              <a:path h="6438940" w="6103292">
                <a:moveTo>
                  <a:pt x="0" y="0"/>
                </a:moveTo>
                <a:lnTo>
                  <a:pt x="6103292" y="0"/>
                </a:lnTo>
                <a:lnTo>
                  <a:pt x="610329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5952" y="6209369"/>
            <a:ext cx="2843828" cy="2798589"/>
          </a:xfrm>
          <a:custGeom>
            <a:avLst/>
            <a:gdLst/>
            <a:ahLst/>
            <a:cxnLst/>
            <a:rect r="r" b="b" t="t" l="l"/>
            <a:pathLst>
              <a:path h="2798589" w="2843828">
                <a:moveTo>
                  <a:pt x="0" y="0"/>
                </a:moveTo>
                <a:lnTo>
                  <a:pt x="2843828" y="0"/>
                </a:lnTo>
                <a:lnTo>
                  <a:pt x="2843828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5572" y="660887"/>
            <a:ext cx="6094408" cy="2286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7"/>
              </a:lnSpc>
            </a:pPr>
            <a:r>
              <a:rPr lang="en-US" sz="7907" spc="-393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NP-Hard and </a:t>
            </a:r>
            <a:r>
              <a:rPr lang="en-US" sz="7907" spc="-393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</a:t>
            </a:r>
            <a:r>
              <a:rPr lang="en-US" sz="7907" spc="-393" b="true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Complete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7594" y="3499653"/>
            <a:ext cx="6791460" cy="153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0" spc="-147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NP-Complete</a:t>
            </a:r>
            <a:r>
              <a:rPr lang="en-US" sz="2970" spc="-147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problems are in </a:t>
            </a:r>
            <a:r>
              <a:rPr lang="en-US" sz="2970" spc="-147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  <a:r>
              <a:rPr lang="en-US" sz="2970" spc="-147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and as hard as any other in NP; if one is in P, then </a:t>
            </a:r>
            <a:r>
              <a:rPr lang="en-US" sz="2970" spc="-147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P=NP</a:t>
            </a:r>
            <a:r>
              <a:rPr lang="en-US" sz="2970" spc="-147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7594" y="5413530"/>
            <a:ext cx="6727431" cy="1534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2970" spc="-147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NP-Hard</a:t>
            </a:r>
            <a:r>
              <a:rPr lang="en-US" sz="2970" spc="-147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problems are at least as hard as NP-Complete problems but may not</a:t>
            </a:r>
          </a:p>
          <a:p>
            <a:pPr algn="l">
              <a:lnSpc>
                <a:spcPts val="4160"/>
              </a:lnSpc>
            </a:pPr>
            <a:r>
              <a:rPr lang="en-US" sz="2970" spc="-147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be in NP.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7594" y="7484570"/>
            <a:ext cx="7155875" cy="98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5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The decision version of </a:t>
            </a:r>
            <a:r>
              <a:rPr lang="en-US" sz="2896" spc="-144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TSP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is </a:t>
            </a:r>
            <a:r>
              <a:rPr lang="en-US" sz="2896" spc="-144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NP-Complete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 The optimization version of </a:t>
            </a:r>
            <a:r>
              <a:rPr lang="en-US" sz="2896" spc="-144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TSP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is </a:t>
            </a:r>
            <a:r>
              <a:rPr lang="en-US" sz="2896" spc="-144" b="true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NP-Hard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04966" y="1492273"/>
            <a:ext cx="2112694" cy="60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8"/>
              </a:lnSpc>
            </a:pPr>
            <a:r>
              <a:rPr lang="en-US" b="true" sz="4258" spc="-212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NP-Hard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33609" y="2166502"/>
            <a:ext cx="3321844" cy="64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-108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at least as hard as</a:t>
            </a:r>
          </a:p>
          <a:p>
            <a:pPr algn="ctr">
              <a:lnSpc>
                <a:spcPts val="2626"/>
              </a:lnSpc>
            </a:pPr>
            <a:r>
              <a:rPr lang="en-US" b="true" sz="2188" spc="-108">
                <a:solidFill>
                  <a:srgbClr val="F6F6F6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NP-Complete problems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09869" y="3711825"/>
            <a:ext cx="797874" cy="68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4"/>
              </a:lnSpc>
            </a:pPr>
            <a:r>
              <a:rPr lang="en-US" b="true" sz="4724" spc="-235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043000" y="5554856"/>
            <a:ext cx="2531612" cy="47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3234" spc="-161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NP-Complete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26306" y="7341488"/>
            <a:ext cx="365001" cy="68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4"/>
              </a:lnSpc>
            </a:pPr>
            <a:r>
              <a:rPr lang="en-US" b="true" sz="4724" spc="-235">
                <a:solidFill>
                  <a:srgbClr val="4186EA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5572" y="8848651"/>
            <a:ext cx="7155875" cy="101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5"/>
              </a:lnSpc>
            </a:pP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Other examples inc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ud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the </a:t>
            </a:r>
            <a:r>
              <a:rPr lang="en-US" sz="2896" spc="-144">
                <a:solidFill>
                  <a:srgbClr val="3B82FC"/>
                </a:solidFill>
                <a:latin typeface="Inter"/>
                <a:ea typeface="Inter"/>
                <a:cs typeface="Inter"/>
                <a:sym typeface="Inter"/>
              </a:rPr>
              <a:t>Minimum Vertex Cover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 (MVC) p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lang="en-US" sz="2896" spc="-144">
                <a:solidFill>
                  <a:srgbClr val="F6F6F6"/>
                </a:solidFill>
                <a:latin typeface="Inter"/>
                <a:ea typeface="Inter"/>
                <a:cs typeface="Inter"/>
                <a:sym typeface="Inter"/>
              </a:rPr>
              <a:t>oblem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1071335"/>
            <a:ext cx="8279914" cy="8362970"/>
          </a:xfrm>
          <a:custGeom>
            <a:avLst/>
            <a:gdLst/>
            <a:ahLst/>
            <a:cxnLst/>
            <a:rect r="r" b="b" t="t" l="l"/>
            <a:pathLst>
              <a:path h="8362970" w="8279914">
                <a:moveTo>
                  <a:pt x="0" y="0"/>
                </a:moveTo>
                <a:lnTo>
                  <a:pt x="8279914" y="0"/>
                </a:lnTo>
                <a:lnTo>
                  <a:pt x="8279914" y="8362970"/>
                </a:lnTo>
                <a:lnTo>
                  <a:pt x="0" y="8362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8396" y="1483445"/>
            <a:ext cx="4811965" cy="100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82" b="true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Thank you.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6236" y="2643130"/>
            <a:ext cx="5027913" cy="100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382" b="true">
                <a:solidFill>
                  <a:srgbClr val="307EF7"/>
                </a:solidFill>
                <a:latin typeface="Inter Bold"/>
                <a:ea typeface="Inter Bold"/>
                <a:cs typeface="Inter Bold"/>
                <a:sym typeface="Inter Bold"/>
              </a:rPr>
              <a:t>Questions?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851" y="4189631"/>
            <a:ext cx="5224309" cy="49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1"/>
              </a:lnSpc>
            </a:pPr>
            <a:r>
              <a:rPr lang="en-US" sz="3093" spc="-30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 vs. NP remains unresolved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2715" y="5066455"/>
            <a:ext cx="6737846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2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The Travelling Salesman Problem exemplifies computational intractability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0154" y="6452052"/>
            <a:ext cx="5993986" cy="9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2970" spc="-29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Understanding complexity classes is essential to computer science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8396" y="8183350"/>
            <a:ext cx="5866972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8" spc="-24">
                <a:solidFill>
                  <a:srgbClr val="F4F4F4"/>
                </a:solidFill>
                <a:latin typeface="Inter"/>
                <a:ea typeface="Inter"/>
                <a:cs typeface="Inter"/>
                <a:sym typeface="Inter"/>
              </a:rPr>
              <a:t>Presentation content generated using Canva Magic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76680" y="4672383"/>
            <a:ext cx="5118901" cy="136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9"/>
              </a:lnSpc>
            </a:pPr>
            <a:r>
              <a:rPr lang="en-US" b="true" sz="10369" spc="-516">
                <a:solidFill>
                  <a:srgbClr val="307EF7"/>
                </a:solidFill>
                <a:latin typeface="Inter Bold"/>
                <a:ea typeface="Inter Bold"/>
                <a:cs typeface="Inter Bold"/>
                <a:sym typeface="Inter Bold"/>
              </a:rPr>
              <a:t>P  </a:t>
            </a:r>
            <a:r>
              <a:rPr lang="en-US" b="true" sz="10369" spc="-516">
                <a:solidFill>
                  <a:srgbClr val="F4F4F4"/>
                </a:solidFill>
                <a:latin typeface="Inter Bold"/>
                <a:ea typeface="Inter Bold"/>
                <a:cs typeface="Inter Bold"/>
                <a:sym typeface="Inter Bold"/>
              </a:rPr>
              <a:t>vs.</a:t>
            </a:r>
            <a:r>
              <a:rPr lang="en-US" b="true" sz="10369" spc="-516">
                <a:solidFill>
                  <a:srgbClr val="307EF7"/>
                </a:solidFill>
                <a:latin typeface="Inter Bold"/>
                <a:ea typeface="Inter Bold"/>
                <a:cs typeface="Inter Bold"/>
                <a:sym typeface="Inter Bold"/>
              </a:rPr>
              <a:t> NP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DAHYjrjvJfU</dc:identifier>
  <dcterms:modified xsi:type="dcterms:W3CDTF">2011-08-01T06:04:30Z</dcterms:modified>
  <cp:revision>1</cp:revision>
  <dc:title>Computational Intractability</dc:title>
</cp:coreProperties>
</file>